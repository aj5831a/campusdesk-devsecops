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1148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6554A4"/>
                </a:solidFill>
                <a:latin typeface="Aptos"/>
              </a:defRPr>
            </a:pPr>
            <a:r>
              <a:t>ARYAN / AJ5831A / CAMPUS IT DEMONSTRATION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91440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102A43"/>
                </a:solidFill>
                <a:latin typeface="Aptos"/>
              </a:defRPr>
            </a:pPr>
            <a:r>
              <a:t>CampusDesk: support across campus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05740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6554A4"/>
                </a:solidFill>
                <a:latin typeface="Aptos"/>
              </a:defRPr>
            </a:pPr>
            <a: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2057400"/>
            <a:ext cx="10149840" cy="7223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0">
                <a:solidFill>
                  <a:srgbClr val="102A43"/>
                </a:solidFill>
                <a:latin typeface="Aptos"/>
              </a:defRPr>
            </a:pPr>
            <a:r>
              <a:t>Track classroom, lab and account incidents with a required campus location.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779776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6554A4"/>
                </a:solidFill>
                <a:latin typeface="Aptos"/>
              </a:defRPr>
            </a:pPr>
            <a:r>
              <a:t>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8720" y="2779776"/>
            <a:ext cx="10149840" cy="7223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0">
                <a:solidFill>
                  <a:srgbClr val="102A43"/>
                </a:solidFill>
                <a:latin typeface="Aptos"/>
              </a:defRPr>
            </a:pPr>
            <a:r>
              <a:t>Classify requests as hardware, software, network, account or other.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502152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6554A4"/>
                </a:solidFill>
                <a:latin typeface="Aptos"/>
              </a:defRPr>
            </a:pPr>
            <a:r>
              <a:t>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3502152"/>
            <a:ext cx="10149840" cy="7223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0">
                <a:solidFill>
                  <a:srgbClr val="102A43"/>
                </a:solidFill>
                <a:latin typeface="Aptos"/>
              </a:defRPr>
            </a:pPr>
            <a:r>
              <a:t>Shared ResolveDesk foundation and AI assistance are credited explicitly.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640080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536879"/>
                </a:solidFill>
                <a:latin typeface="Aptos"/>
              </a:defRPr>
            </a:pPr>
            <a:r>
              <a:t>CAMPUSDESK  /  DEVSECOPS PROJECT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0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536879"/>
                </a:solidFill>
                <a:latin typeface="Aptos"/>
              </a:defRPr>
            </a:pPr>
            <a: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1148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6554A4"/>
                </a:solidFill>
                <a:latin typeface="Aptos"/>
              </a:defRPr>
            </a:pPr>
            <a:r>
              <a:t>A DISTINCT CAMPUS WORKFLOW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91440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102A43"/>
                </a:solidFill>
                <a:latin typeface="Aptos"/>
              </a:defRPr>
            </a:pPr>
            <a:r>
              <a:t>From a lab incident to a resolution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05740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6554A4"/>
                </a:solidFill>
                <a:latin typeface="Aptos"/>
              </a:defRPr>
            </a:pPr>
            <a: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2057400"/>
            <a:ext cx="10149840" cy="7223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0">
                <a:solidFill>
                  <a:srgbClr val="102A43"/>
                </a:solidFill>
                <a:latin typeface="Aptos"/>
              </a:defRPr>
            </a:pPr>
            <a:r>
              <a:t>Example: projector loses HDMI signal in Science block, Lab 301.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779776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6554A4"/>
                </a:solidFill>
                <a:latin typeface="Aptos"/>
              </a:defRPr>
            </a:pPr>
            <a:r>
              <a:t>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8720" y="2779776"/>
            <a:ext cx="10149840" cy="7223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0">
                <a:solidFill>
                  <a:srgbClr val="102A43"/>
                </a:solidFill>
                <a:latin typeface="Aptos"/>
              </a:defRPr>
            </a:pPr>
            <a:r>
              <a:t>Capture requester, location, category, priority and assigned support team.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502152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6554A4"/>
                </a:solidFill>
                <a:latin typeface="Aptos"/>
              </a:defRPr>
            </a:pPr>
            <a:r>
              <a:t>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3502152"/>
            <a:ext cx="10149840" cy="7223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0">
                <a:solidFill>
                  <a:srgbClr val="102A43"/>
                </a:solidFill>
                <a:latin typeface="Aptos"/>
              </a:defRPr>
            </a:pPr>
            <a:r>
              <a:t>Move Open to In progress to Resolved; search by location or category.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224528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6554A4"/>
                </a:solidFill>
                <a:latin typeface="Aptos"/>
              </a:defRPr>
            </a:pPr>
            <a:r>
              <a:t>04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4224528"/>
            <a:ext cx="10149840" cy="7223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0">
                <a:solidFill>
                  <a:srgbClr val="102A43"/>
                </a:solidFill>
                <a:latin typeface="Aptos"/>
              </a:defRPr>
            </a:pPr>
            <a:r>
              <a:t>Demonstration data is synthetic. The application has no authentication or email delivery.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640080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536879"/>
                </a:solidFill>
                <a:latin typeface="Aptos"/>
              </a:defRPr>
            </a:pPr>
            <a:r>
              <a:t>CAMPUSDESK  /  DEVSECOPS PROJECT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0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536879"/>
                </a:solidFill>
                <a:latin typeface="Aptos"/>
              </a:defRPr>
            </a:pPr>
            <a: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1148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6554A4"/>
                </a:solidFill>
                <a:latin typeface="Aptos"/>
              </a:defRPr>
            </a:pPr>
            <a:r>
              <a:t>MODULAR IMPLEMENTATION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91440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102A43"/>
                </a:solidFill>
                <a:latin typeface="Aptos"/>
              </a:defRPr>
            </a:pPr>
            <a:r>
              <a:t>Campus fields have their own contract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05740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6554A4"/>
                </a:solidFill>
                <a:latin typeface="Aptos"/>
              </a:defRPr>
            </a:pPr>
            <a: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2057400"/>
            <a:ext cx="10149840" cy="7223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0">
                <a:solidFill>
                  <a:srgbClr val="102A43"/>
                </a:solidFill>
                <a:latin typeface="Aptos"/>
              </a:defRPr>
            </a:pPr>
            <a:r>
              <a:t>TicketForm and TicketTable collect and show category and location.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779776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6554A4"/>
                </a:solidFill>
                <a:latin typeface="Aptos"/>
              </a:defRPr>
            </a:pPr>
            <a:r>
              <a:t>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8720" y="2779776"/>
            <a:ext cx="10149840" cy="7223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0">
                <a:solidFill>
                  <a:srgbClr val="102A43"/>
                </a:solidFill>
                <a:latin typeface="Aptos"/>
              </a:defRPr>
            </a:pPr>
            <a:r>
              <a:t>Pydantic requires location and validates the category enum; partial updates reject nulls.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502152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6554A4"/>
                </a:solidFill>
                <a:latin typeface="Aptos"/>
              </a:defRPr>
            </a:pPr>
            <a:r>
              <a:t>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3502152"/>
            <a:ext cx="10149840" cy="7223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0">
                <a:solidFill>
                  <a:srgbClr val="102A43"/>
                </a:solidFill>
                <a:latin typeface="Aptos"/>
              </a:defRPr>
            </a:pPr>
            <a:r>
              <a:t>Routes call service functions; SQLAlchemy stores the ticket in PostgreSQL.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224528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6554A4"/>
                </a:solidFill>
                <a:latin typeface="Aptos"/>
              </a:defRPr>
            </a:pPr>
            <a:r>
              <a:t>04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4224528"/>
            <a:ext cx="10149840" cy="7223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0">
                <a:solidFill>
                  <a:srgbClr val="102A43"/>
                </a:solidFill>
                <a:latin typeface="Aptos"/>
              </a:defRPr>
            </a:pPr>
            <a:r>
              <a:t>Migration 0003 adds campus fields without deleting existing ticket history.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640080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536879"/>
                </a:solidFill>
                <a:latin typeface="Aptos"/>
              </a:defRPr>
            </a:pPr>
            <a:r>
              <a:t>CAMPUSDESK  /  DEVSECOPS PROJECT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0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536879"/>
                </a:solidFill>
                <a:latin typeface="Aptos"/>
              </a:defRPr>
            </a:pPr>
            <a: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1148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6554A4"/>
                </a:solidFill>
                <a:latin typeface="Aptos"/>
              </a:defRPr>
            </a:pPr>
            <a:r>
              <a:t>ARCHITECTURE AND DEPLOYMENT BOUNDARIES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91440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102A43"/>
                </a:solidFill>
                <a:latin typeface="Aptos"/>
              </a:defRPr>
            </a:pPr>
            <a:r>
              <a:t>One shared cluster, separate campus 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194560"/>
            <a:ext cx="2286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6554A4"/>
                </a:solidFill>
                <a:latin typeface="Aptos"/>
              </a:defRPr>
            </a:pPr>
            <a:r>
              <a:t>Browser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0" y="2194560"/>
            <a:ext cx="2286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6554A4"/>
                </a:solidFill>
                <a:latin typeface="Aptos"/>
              </a:defRPr>
            </a:pPr>
            <a:r>
              <a:t>React / Nginx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0" y="2194560"/>
            <a:ext cx="2286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6554A4"/>
                </a:solidFill>
                <a:latin typeface="Aptos"/>
              </a:defRPr>
            </a:pPr>
            <a:r>
              <a:t>FastAPI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46720" y="2194560"/>
            <a:ext cx="2286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6554A4"/>
                </a:solidFill>
                <a:latin typeface="Aptos"/>
              </a:defRPr>
            </a:pPr>
            <a:r>
              <a:t>PostgreSQL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377440" y="2194560"/>
            <a:ext cx="457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0">
                <a:solidFill>
                  <a:srgbClr val="102A43"/>
                </a:solidFill>
                <a:latin typeface="Aptos"/>
              </a:defRPr>
            </a:pPr>
            <a:r>
              <a:t>→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937760" y="2194560"/>
            <a:ext cx="457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0">
                <a:solidFill>
                  <a:srgbClr val="102A43"/>
                </a:solidFill>
                <a:latin typeface="Aptos"/>
              </a:defRPr>
            </a:pPr>
            <a:r>
              <a:t>→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79" y="2194560"/>
            <a:ext cx="457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0">
                <a:solidFill>
                  <a:srgbClr val="102A43"/>
                </a:solidFill>
                <a:latin typeface="Aptos"/>
              </a:defRPr>
            </a:pPr>
            <a:r>
              <a:t>→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10896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0">
                <a:solidFill>
                  <a:srgbClr val="102A43"/>
                </a:solidFill>
                <a:latin typeface="Aptos"/>
              </a:defRPr>
            </a:pPr>
            <a:r>
              <a:t>GitHub Actions → GHCR → ArgoCD / Helm → EKS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8404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0">
                <a:solidFill>
                  <a:srgbClr val="102A43"/>
                </a:solidFill>
                <a:latin typeface="Aptos"/>
              </a:defRPr>
            </a:pPr>
            <a:r>
              <a:t>Prometheus ← /metrics       Grafana ← Prometheus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80060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6554A4"/>
                </a:solidFill>
                <a:latin typeface="Aptos"/>
              </a:defRPr>
            </a:pPr>
            <a:r>
              <a:t>01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88720" y="4800600"/>
            <a:ext cx="10149840" cy="7223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0">
                <a:solidFill>
                  <a:srgbClr val="102A43"/>
                </a:solidFill>
                <a:latin typeface="Aptos"/>
              </a:defRPr>
            </a:pPr>
            <a:r>
              <a:t>Local Compose: browser 3002, API 8001, private PostgreSQL service.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5522976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6554A4"/>
                </a:solidFill>
                <a:latin typeface="Aptos"/>
              </a:defRPr>
            </a:pPr>
            <a: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20" y="5522976"/>
            <a:ext cx="10149840" cy="7223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0">
                <a:solidFill>
                  <a:srgbClr val="102A43"/>
                </a:solidFill>
                <a:latin typeface="Aptos"/>
              </a:defRPr>
            </a:pPr>
            <a:r>
              <a:t>Recorded EKS: namespace campusdesk, separate Secret and persistent database.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640080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536879"/>
                </a:solidFill>
                <a:latin typeface="Aptos"/>
              </a:defRPr>
            </a:pPr>
            <a:r>
              <a:t>CAMPUSDESK  /  DEVSECOPS PROJECT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72800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536879"/>
                </a:solidFill>
                <a:latin typeface="Aptos"/>
              </a:defRPr>
            </a:pPr>
            <a: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1148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6554A4"/>
                </a:solidFill>
                <a:latin typeface="Aptos"/>
              </a:defRPr>
            </a:pPr>
            <a:r>
              <a:t>VERIFIED CONTINUOUS INTEGRATION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91440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102A43"/>
                </a:solidFill>
                <a:latin typeface="Aptos"/>
              </a:defRPr>
            </a:pPr>
            <a:r>
              <a:t>A tested image reaches the registry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05740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6554A4"/>
                </a:solidFill>
                <a:latin typeface="Aptos"/>
              </a:defRPr>
            </a:pPr>
            <a: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2057400"/>
            <a:ext cx="10149840" cy="7223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0">
                <a:solidFill>
                  <a:srgbClr val="102A43"/>
                </a:solidFill>
                <a:latin typeface="Aptos"/>
              </a:defRPr>
            </a:pPr>
            <a:r>
              <a:t>31 backend tests and four frontend tests passed; the production frontend build passed.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779776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6554A4"/>
                </a:solidFill>
                <a:latin typeface="Aptos"/>
              </a:defRPr>
            </a:pPr>
            <a:r>
              <a:t>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8720" y="2779776"/>
            <a:ext cx="10149840" cy="7223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0">
                <a:solidFill>
                  <a:srgbClr val="102A43"/>
                </a:solidFill>
                <a:latin typeface="Aptos"/>
              </a:defRPr>
            </a:pPr>
            <a:r>
              <a:t>Commit-SHA images passed the Trivy HIGH/CRITICAL gate before publication.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502152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6554A4"/>
                </a:solidFill>
                <a:latin typeface="Aptos"/>
              </a:defRPr>
            </a:pPr>
            <a:r>
              <a:t>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3502152"/>
            <a:ext cx="10149840" cy="7223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0">
                <a:solidFill>
                  <a:srgbClr val="102A43"/>
                </a:solidFill>
                <a:latin typeface="Aptos"/>
              </a:defRPr>
            </a:pPr>
            <a:r>
              <a:t>The same images passed Helm deployment and HTTP smoke checks in temporary Kind.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224528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6554A4"/>
                </a:solidFill>
                <a:latin typeface="Aptos"/>
              </a:defRPr>
            </a:pPr>
            <a:r>
              <a:t>04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4224528"/>
            <a:ext cx="10149840" cy="7223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0">
                <a:solidFill>
                  <a:srgbClr val="102A43"/>
                </a:solidFill>
                <a:latin typeface="Aptos"/>
              </a:defRPr>
            </a:pPr>
            <a:r>
              <a:t>Final published baseline CI run 38906213468 passed at commit 1bd48967.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640080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536879"/>
                </a:solidFill>
                <a:latin typeface="Aptos"/>
              </a:defRPr>
            </a:pPr>
            <a:r>
              <a:t>CAMPUSDESK  /  DEVSECOPS PROJECT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0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536879"/>
                </a:solidFill>
                <a:latin typeface="Aptos"/>
              </a:defRPr>
            </a:pPr>
            <a: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1148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6554A4"/>
                </a:solidFill>
                <a:latin typeface="Aptos"/>
              </a:defRPr>
            </a:pPr>
            <a:r>
              <a:t>TERRAFORM AND THE ACTUAL AWS RESULT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91440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102A43"/>
                </a:solidFill>
                <a:latin typeface="Aptos"/>
              </a:defRPr>
            </a:pPr>
            <a:r>
              <a:t>Quota recovery changed the network plan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05740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6554A4"/>
                </a:solidFill>
                <a:latin typeface="Aptos"/>
              </a:defRPr>
            </a:pPr>
            <a: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2057400"/>
            <a:ext cx="10149840" cy="7223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0">
                <a:solidFill>
                  <a:srgbClr val="102A43"/>
                </a:solidFill>
                <a:latin typeface="Aptos"/>
              </a:defRPr>
            </a:pPr>
            <a:r>
              <a:t>The regional Elastic IP quota blocked the initial private-worker/NAT plan.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779776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6554A4"/>
                </a:solidFill>
                <a:latin typeface="Aptos"/>
              </a:defRPr>
            </a:pPr>
            <a:r>
              <a:t>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8720" y="2779776"/>
            <a:ext cx="10149840" cy="7223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0">
                <a:solidFill>
                  <a:srgbClr val="102A43"/>
                </a:solidFill>
                <a:latin typeface="Aptos"/>
              </a:defRPr>
            </a:pPr>
            <a:r>
              <a:t>Approved recovery used public-subnet workers with no public inbound access and API /32.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502152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6554A4"/>
                </a:solidFill>
                <a:latin typeface="Aptos"/>
              </a:defRPr>
            </a:pPr>
            <a:r>
              <a:t>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3502152"/>
            <a:ext cx="10149840" cy="7223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0">
                <a:solidFill>
                  <a:srgbClr val="102A43"/>
                </a:solidFill>
                <a:latin typeface="Aptos"/>
              </a:defRPr>
            </a:pPr>
            <a:r>
              <a:t>Replacement workers served both applications; the old failed node group delayed removal.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224528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6554A4"/>
                </a:solidFill>
                <a:latin typeface="Aptos"/>
              </a:defRPr>
            </a:pPr>
            <a:r>
              <a:t>04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4224528"/>
            <a:ext cx="10149840" cy="7223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0">
                <a:solidFill>
                  <a:srgbClr val="102A43"/>
                </a:solidFill>
                <a:latin typeface="Aptos"/>
              </a:defRPr>
            </a:pPr>
            <a:r>
              <a:t>Recovery apply was gracefully interrupted during deletion; it was not a clean successful apply.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640080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536879"/>
                </a:solidFill>
                <a:latin typeface="Aptos"/>
              </a:defRPr>
            </a:pPr>
            <a:r>
              <a:t>CAMPUSDESK  /  DEVSECOPS PROJECT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0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536879"/>
                </a:solidFill>
                <a:latin typeface="Aptos"/>
              </a:defRPr>
            </a:pPr>
            <a: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1148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6554A4"/>
                </a:solidFill>
                <a:latin typeface="Aptos"/>
              </a:defRPr>
            </a:pPr>
            <a:r>
              <a:t>KUBERNETES, STORAGE AND SCALING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91440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102A43"/>
                </a:solidFill>
                <a:latin typeface="Aptos"/>
              </a:defRPr>
            </a:pPr>
            <a:r>
              <a:t>The campus workload was verified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05740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6554A4"/>
                </a:solidFill>
                <a:latin typeface="Aptos"/>
              </a:defRPr>
            </a:pPr>
            <a: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2057400"/>
            <a:ext cx="10149840" cy="7223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0">
                <a:solidFill>
                  <a:srgbClr val="102A43"/>
                </a:solidFill>
                <a:latin typeface="Aptos"/>
              </a:defRPr>
            </a:pPr>
            <a:r>
              <a:t>Recorded proof shows two API replicas, two frontend replicas and a completed migration Job.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779776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6554A4"/>
                </a:solidFill>
                <a:latin typeface="Aptos"/>
              </a:defRPr>
            </a:pPr>
            <a:r>
              <a:t>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8720" y="2779776"/>
            <a:ext cx="10149840" cy="7223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0">
                <a:solidFill>
                  <a:srgbClr val="102A43"/>
                </a:solidFill>
                <a:latin typeface="Aptos"/>
              </a:defRPr>
            </a:pPr>
            <a:r>
              <a:t>PostgreSQL used its own bound 5 GiB volume in namespace campusdesk.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502152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6554A4"/>
                </a:solidFill>
                <a:latin typeface="Aptos"/>
              </a:defRPr>
            </a:pPr>
            <a:r>
              <a:t>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3502152"/>
            <a:ext cx="10149840" cy="7223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0">
                <a:solidFill>
                  <a:srgbClr val="102A43"/>
                </a:solidFill>
                <a:latin typeface="Aptos"/>
              </a:defRPr>
            </a:pPr>
            <a:r>
              <a:t>Readiness, liveness, resource limits and HPA were configured; metrics were available.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224528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6554A4"/>
                </a:solidFill>
                <a:latin typeface="Aptos"/>
              </a:defRPr>
            </a:pPr>
            <a:r>
              <a:t>04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4224528"/>
            <a:ext cx="10149840" cy="7223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0">
                <a:solidFill>
                  <a:srgbClr val="102A43"/>
                </a:solidFill>
                <a:latin typeface="Aptos"/>
              </a:defRPr>
            </a:pPr>
            <a:r>
              <a:t>The cloud cluster has since been destroyed. Today use local UI and recorded cloud evidence.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640080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536879"/>
                </a:solidFill>
                <a:latin typeface="Aptos"/>
              </a:defRPr>
            </a:pPr>
            <a:r>
              <a:t>CAMPUSDESK  /  DEVSECOPS PROJECT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0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536879"/>
                </a:solidFill>
                <a:latin typeface="Aptos"/>
              </a:defRPr>
            </a:pPr>
            <a: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1148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6554A4"/>
                </a:solidFill>
                <a:latin typeface="Aptos"/>
              </a:defRPr>
            </a:pPr>
            <a:r>
              <a:t>ARGOCD EVIDENCE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91440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102A43"/>
                </a:solidFill>
                <a:latin typeface="Aptos"/>
              </a:defRPr>
            </a:pPr>
            <a:r>
              <a:t>GitOps was more than a YAML file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05740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6554A4"/>
                </a:solidFill>
                <a:latin typeface="Aptos"/>
              </a:defRPr>
            </a:pPr>
            <a: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2057400"/>
            <a:ext cx="10149840" cy="7223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0">
                <a:solidFill>
                  <a:srgbClr val="102A43"/>
                </a:solidFill>
                <a:latin typeface="Aptos"/>
              </a:defRPr>
            </a:pPr>
            <a:r>
              <a:t>ArgoCD tracked the CampusDesk repository and Helm release values.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779776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6554A4"/>
                </a:solidFill>
                <a:latin typeface="Aptos"/>
              </a:defRPr>
            </a:pPr>
            <a:r>
              <a:t>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8720" y="2779776"/>
            <a:ext cx="10149840" cy="7223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0">
                <a:solidFill>
                  <a:srgbClr val="102A43"/>
                </a:solidFill>
                <a:latin typeface="Aptos"/>
              </a:defRPr>
            </a:pPr>
            <a:r>
              <a:t>The recorded application reached Synced, Healthy and Succeeded.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502152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6554A4"/>
                </a:solidFill>
                <a:latin typeface="Aptos"/>
              </a:defRPr>
            </a:pPr>
            <a:r>
              <a:t>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3502152"/>
            <a:ext cx="10149840" cy="7223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0">
                <a:solidFill>
                  <a:srgbClr val="102A43"/>
                </a:solidFill>
                <a:latin typeface="Aptos"/>
              </a:defRPr>
            </a:pPr>
            <a:r>
              <a:t>Deployed images used the verified 9a7a184 commit tag; later docs commits kept that release.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224528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6554A4"/>
                </a:solidFill>
                <a:latin typeface="Aptos"/>
              </a:defRPr>
            </a:pPr>
            <a:r>
              <a:t>04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4224528"/>
            <a:ext cx="10149840" cy="7223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0">
                <a:solidFill>
                  <a:srgbClr val="102A43"/>
                </a:solidFill>
                <a:latin typeface="Aptos"/>
              </a:defRPr>
            </a:pPr>
            <a:r>
              <a:t>Backend replica drift is ignored so ArgoCD does not fight the HPA.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640080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536879"/>
                </a:solidFill>
                <a:latin typeface="Aptos"/>
              </a:defRPr>
            </a:pPr>
            <a:r>
              <a:t>CAMPUSDESK  /  DEVSECOPS PROJECT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0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536879"/>
                </a:solidFill>
                <a:latin typeface="Aptos"/>
              </a:defRPr>
            </a:pPr>
            <a: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1148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6554A4"/>
                </a:solidFill>
                <a:latin typeface="Aptos"/>
              </a:defRPr>
            </a:pPr>
            <a:r>
              <a:t>PROMETHEUS AND GRAFANA EVIDENCE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91440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102A43"/>
                </a:solidFill>
                <a:latin typeface="Aptos"/>
              </a:defRPr>
            </a:pPr>
            <a:r>
              <a:t>Check actual metrics, not assumptions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05740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6554A4"/>
                </a:solidFill>
                <a:latin typeface="Aptos"/>
              </a:defRPr>
            </a:pPr>
            <a: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2057400"/>
            <a:ext cx="10149840" cy="7223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0">
                <a:solidFill>
                  <a:srgbClr val="102A43"/>
                </a:solidFill>
                <a:latin typeface="Aptos"/>
              </a:defRPr>
            </a:pPr>
            <a:r>
              <a:t>Recorded Prometheus proof shows both CampusDesk API endpoints UP.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779776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6554A4"/>
                </a:solidFill>
                <a:latin typeface="Aptos"/>
              </a:defRPr>
            </a:pPr>
            <a:r>
              <a:t>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8720" y="2779776"/>
            <a:ext cx="10149840" cy="7223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0">
                <a:solidFill>
                  <a:srgbClr val="102A43"/>
                </a:solidFill>
                <a:latin typeface="Aptos"/>
              </a:defRPr>
            </a:pPr>
            <a:r>
              <a:t>The campus dashboard contains real request-rate and p95-latency samples.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502152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6554A4"/>
                </a:solidFill>
                <a:latin typeface="Aptos"/>
              </a:defRPr>
            </a:pPr>
            <a:r>
              <a:t>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3502152"/>
            <a:ext cx="10149840" cy="7223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0">
                <a:solidFill>
                  <a:srgbClr val="102A43"/>
                </a:solidFill>
                <a:latin typeface="Aptos"/>
              </a:defRPr>
            </a:pPr>
            <a:r>
              <a:t>The error panel had no matching series; that was not presented as a measured zero.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224528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6554A4"/>
                </a:solidFill>
                <a:latin typeface="Aptos"/>
              </a:defRPr>
            </a:pPr>
            <a:r>
              <a:t>04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4224528"/>
            <a:ext cx="10149840" cy="7223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0">
                <a:solidFill>
                  <a:srgbClr val="102A43"/>
                </a:solidFill>
                <a:latin typeface="Aptos"/>
              </a:defRPr>
            </a:pPr>
            <a:r>
              <a:t>Grafana authentication was refreshed after a monitoring pod restart.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640080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536879"/>
                </a:solidFill>
                <a:latin typeface="Aptos"/>
              </a:defRPr>
            </a:pPr>
            <a:r>
              <a:t>CAMPUSDESK  /  DEVSECOPS PROJECT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0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536879"/>
                </a:solidFill>
                <a:latin typeface="Aptos"/>
              </a:defRPr>
            </a:pPr>
            <a: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1148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6554A4"/>
                </a:solidFill>
                <a:latin typeface="Aptos"/>
              </a:defRPr>
            </a:pPr>
            <a:r>
              <a:t>FINAL RESULTS AND LIMITS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91440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102A43"/>
                </a:solidFill>
                <a:latin typeface="Aptos"/>
              </a:defRPr>
            </a:pPr>
            <a:r>
              <a:t>Delivery finished with a cleanup audit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05740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6554A4"/>
                </a:solidFill>
                <a:latin typeface="Aptos"/>
              </a:defRPr>
            </a:pPr>
            <a: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2057400"/>
            <a:ext cx="10149840" cy="7223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0">
                <a:solidFill>
                  <a:srgbClr val="102A43"/>
                </a:solidFill>
                <a:latin typeface="Aptos"/>
              </a:defRPr>
            </a:pPr>
            <a:r>
              <a:t>31 backend tests, four frontend tests, browser/mobile checks and PostgreSQL smoke passed.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779776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6554A4"/>
                </a:solidFill>
                <a:latin typeface="Aptos"/>
              </a:defRPr>
            </a:pPr>
            <a:r>
              <a:t>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8720" y="2779776"/>
            <a:ext cx="10149840" cy="7223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0">
                <a:solidFill>
                  <a:srgbClr val="102A43"/>
                </a:solidFill>
                <a:latin typeface="Aptos"/>
              </a:defRPr>
            </a:pPr>
            <a:r>
              <a:t>A ten-slide deck and a narrated walkthrough document the delivery.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502152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6554A4"/>
                </a:solidFill>
                <a:latin typeface="Aptos"/>
              </a:defRPr>
            </a:pPr>
            <a:r>
              <a:t>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3502152"/>
            <a:ext cx="10149840" cy="7223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0">
                <a:solidFill>
                  <a:srgbClr val="102A43"/>
                </a:solidFill>
                <a:latin typeface="Aptos"/>
              </a:defRPr>
            </a:pPr>
            <a:r>
              <a:t>Shared Terraform destroy removed 59 resources; all 11 scoped cleanup checks passed.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224528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6554A4"/>
                </a:solidFill>
                <a:latin typeface="Aptos"/>
              </a:defRPr>
            </a:pPr>
            <a:r>
              <a:t>04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4224528"/>
            <a:ext cx="10149840" cy="7223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0">
                <a:solidFill>
                  <a:srgbClr val="102A43"/>
                </a:solidFill>
                <a:latin typeface="Aptos"/>
              </a:defRPr>
            </a:pPr>
            <a:r>
              <a:t>The owned KMS key is PendingDeletion until 15 November 2026 under AWS rules.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4946904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6554A4"/>
                </a:solidFill>
                <a:latin typeface="Aptos"/>
              </a:defRPr>
            </a:pPr>
            <a:r>
              <a:t>05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4946904"/>
            <a:ext cx="10149840" cy="7223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0">
                <a:solidFill>
                  <a:srgbClr val="102A43"/>
                </a:solidFill>
                <a:latin typeface="Aptos"/>
              </a:defRPr>
            </a:pPr>
            <a:r>
              <a:t>Local demo remains available. Production would need authentication, backups and recovery planning.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640080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536879"/>
                </a:solidFill>
                <a:latin typeface="Aptos"/>
              </a:defRPr>
            </a:pPr>
            <a:r>
              <a:t>CAMPUSDESK  /  DEVSECOPS PROJECT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0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536879"/>
                </a:solidFill>
                <a:latin typeface="Aptos"/>
              </a:defRPr>
            </a:pPr>
            <a:r>
              <a:t>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